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66760" y="640080"/>
            <a:ext cx="3383280" cy="3383280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1737360"/>
            <a:ext cx="1143000" cy="1143000"/>
          </a:xfrm>
          <a:prstGeom prst="ellipse">
            <a:avLst/>
          </a:prstGeom>
          <a:solidFill>
            <a:srgbClr val="32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52760" y="960120"/>
            <a:ext cx="347472" cy="347472"/>
          </a:xfrm>
          <a:prstGeom prst="ellipse">
            <a:avLst/>
          </a:prstGeom>
          <a:solidFill>
            <a:srgbClr val="37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3268E6"/>
                </a:solidFill>
                <a:latin typeface="Aptos Display"/>
              </a:defRPr>
            </a:pPr>
            <a:r>
              <a:t>GRUP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6583680" cy="2423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0D1931"/>
                </a:solidFill>
                <a:latin typeface="Aptos Display"/>
              </a:defRPr>
            </a:pPr>
            <a:r>
              <a:t>Arquitectura Web</a:t>
            </a:r>
            <a:br/>
            <a:r>
              <a:t>i Història dels</a:t>
            </a:r>
            <a:br/>
            <a:r>
              <a:t>Navegadors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60520"/>
            <a:ext cx="6492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0">
                <a:solidFill>
                  <a:srgbClr val="5B687F"/>
                </a:solidFill>
                <a:latin typeface="Aptos"/>
              </a:defRPr>
            </a:pPr>
            <a:r>
              <a:t>Client i servidor · Comunicació web · Evolució dels navegadors · Impacte en el desenvolupament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31920"/>
            <a:ext cx="3611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4050791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5B687F"/>
                </a:solidFill>
                <a:latin typeface="Aptos"/>
              </a:defRPr>
            </a:pPr>
            <a:r>
              <a:t>https://www.web.cat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20040"/>
            <a:ext cx="566928" cy="566928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1931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0D1931"/>
                </a:solidFill>
                <a:latin typeface="Aptos Display"/>
              </a:defRPr>
            </a:pPr>
            <a:r>
              <a:t>Què és l’arquitectura web?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0408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5B687F"/>
                </a:solidFill>
                <a:latin typeface="Aptos"/>
              </a:defRPr>
            </a:pPr>
            <a:r>
              <a:t>Organitza els elements que intervenen quan utilitzem una pàgina o aplicació web.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554480"/>
            <a:ext cx="384048" cy="384048"/>
          </a:xfrm>
          <a:prstGeom prst="ellipse">
            <a:avLst/>
          </a:prstGeom>
          <a:solidFill>
            <a:srgbClr val="32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490472"/>
            <a:ext cx="2468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2880360" cy="3593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És el dispositiu o programa que inicia la comunicació.</a:t>
            </a:r>
            <a:br/>
            <a:br/>
            <a:r>
              <a:t>• Demana recursos o serveis.</a:t>
            </a:r>
            <a:br/>
            <a:r>
              <a:t>• Normalment és un navegador.</a:t>
            </a:r>
            <a:br/>
            <a:r>
              <a:t>• Mostra la resposta a l’usuari.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1554480"/>
            <a:ext cx="384048" cy="384048"/>
          </a:xfrm>
          <a:prstGeom prst="ellipse">
            <a:avLst/>
          </a:prstGeom>
          <a:solidFill>
            <a:srgbClr val="7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490472"/>
            <a:ext cx="2468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Xarxa / Internet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75688"/>
            <a:ext cx="2880360" cy="3593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És el medi que connecta el client amb el servidor.</a:t>
            </a:r>
            <a:br/>
            <a:br/>
            <a:r>
              <a:t>• Transporta les peticions.</a:t>
            </a:r>
            <a:br/>
            <a:r>
              <a:t>• Transporta les respostes.</a:t>
            </a:r>
            <a:br/>
            <a:r>
              <a:t>• Utilitza protocols de comunicació.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554480"/>
            <a:ext cx="384048" cy="384048"/>
          </a:xfrm>
          <a:prstGeom prst="ellipse">
            <a:avLst/>
          </a:prstGeom>
          <a:solidFill>
            <a:srgbClr val="2AA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490472"/>
            <a:ext cx="2468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Servidor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75688"/>
            <a:ext cx="2880360" cy="3593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És l’ordinador o programa que ofereix recursos o serveis.</a:t>
            </a:r>
            <a:br/>
            <a:br/>
            <a:r>
              <a:t>• Rep les peticions.</a:t>
            </a:r>
            <a:br/>
            <a:r>
              <a:t>• Processa la informació.</a:t>
            </a:r>
            <a:br/>
            <a:r>
              <a:t>• Envia una resposta al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20040"/>
            <a:ext cx="566928" cy="566928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1931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0D1931"/>
                </a:solidFill>
                <a:latin typeface="Aptos Display"/>
              </a:defRPr>
            </a:pPr>
            <a:r>
              <a:t>Model client-servidor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0408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5B687F"/>
                </a:solidFill>
                <a:latin typeface="Aptos"/>
              </a:defRPr>
            </a:pPr>
            <a:r>
              <a:t>La comunicació segueix un procés de petició i resposta.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246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55648" y="1737360"/>
            <a:ext cx="914400" cy="914400"/>
          </a:xfrm>
          <a:prstGeom prst="ellipse">
            <a:avLst/>
          </a:prstGeom>
          <a:solidFill>
            <a:srgbClr val="32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55648" y="173736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D1931"/>
                </a:solidFill>
                <a:latin typeface="Aptos Display"/>
              </a:defRPr>
            </a:pPr>
            <a: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10128"/>
            <a:ext cx="251460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30" b="0">
                <a:solidFill>
                  <a:srgbClr val="0D1931"/>
                </a:solidFill>
                <a:latin typeface="Aptos"/>
              </a:defRPr>
            </a:pPr>
            <a:r>
              <a:t>Exemple: el navegador.</a:t>
            </a:r>
            <a:br/>
            <a:br/>
            <a:r>
              <a:t>1. L’usuari fa una acció.</a:t>
            </a:r>
            <a:br/>
            <a:r>
              <a:t>2. El client crea una petició.</a:t>
            </a:r>
            <a:br/>
            <a:r>
              <a:t>3. Envia la petició al servidor.</a:t>
            </a:r>
            <a:br/>
            <a:r>
              <a:t>4. Rep la resposta.</a:t>
            </a:r>
            <a:br/>
            <a:r>
              <a:t>5. Interpreta i mostra el contingut.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19456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268E6"/>
                </a:solidFill>
                <a:latin typeface="Aptos Display"/>
              </a:defRPr>
            </a:pPr>
            <a:r>
              <a:t>PETICIÓ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06908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AA66C"/>
                </a:solidFill>
                <a:latin typeface="Aptos Display"/>
              </a:defRPr>
            </a:pPr>
            <a:r>
              <a:t>← RESPOSTA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99232"/>
            <a:ext cx="3474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5B687F"/>
                </a:solidFill>
                <a:latin typeface="Aptos"/>
              </a:defRPr>
            </a:pPr>
            <a:r>
              <a:t>Exemple: demanar la pàgina inicial d’un lloc 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325880"/>
            <a:ext cx="3246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2328" y="1737360"/>
            <a:ext cx="914400" cy="914400"/>
          </a:xfrm>
          <a:prstGeom prst="ellipse">
            <a:avLst/>
          </a:prstGeom>
          <a:solidFill>
            <a:srgbClr val="2AA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173736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816352"/>
            <a:ext cx="2423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D1931"/>
                </a:solidFill>
                <a:latin typeface="Aptos Display"/>
              </a:defRPr>
            </a:pPr>
            <a:r>
              <a:t>SERVIDOR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310128"/>
            <a:ext cx="251460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30" b="0">
                <a:solidFill>
                  <a:srgbClr val="0D1931"/>
                </a:solidFill>
                <a:latin typeface="Aptos"/>
              </a:defRPr>
            </a:pPr>
            <a:r>
              <a:t>Exemple: servidor web.</a:t>
            </a:r>
            <a:br/>
            <a:br/>
            <a:r>
              <a:t>1. Rep la petició.</a:t>
            </a:r>
            <a:br/>
            <a:r>
              <a:t>2. Identifica què demana el client.</a:t>
            </a:r>
            <a:br/>
            <a:r>
              <a:t>3. Busca fitxers o dades.</a:t>
            </a:r>
            <a:br/>
            <a:r>
              <a:t>4. Pot executar codi al servidor.</a:t>
            </a:r>
            <a:br/>
            <a:r>
              <a:t>5. Genera i envia la resposta.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20040"/>
            <a:ext cx="566928" cy="566928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1931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0D1931"/>
                </a:solidFill>
                <a:latin typeface="Aptos Display"/>
              </a:defRPr>
            </a:pPr>
            <a:r>
              <a:t>Què passa quan obrim una web?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0408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5B687F"/>
                </a:solidFill>
                <a:latin typeface="Aptos"/>
              </a:defRPr>
            </a:pPr>
            <a:r>
              <a:t>Exemple complet des que escrivim una URL fins que veiem la pàgina.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755648"/>
            <a:ext cx="640080" cy="640080"/>
          </a:xfrm>
          <a:prstGeom prst="ellipse">
            <a:avLst/>
          </a:prstGeom>
          <a:solidFill>
            <a:srgbClr val="32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70048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1931"/>
                </a:solidFill>
                <a:latin typeface="Aptos Display"/>
              </a:defRPr>
            </a:pPr>
            <a:r>
              <a:t>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246120"/>
            <a:ext cx="1609344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70" b="0">
                <a:solidFill>
                  <a:srgbClr val="0D1931"/>
                </a:solidFill>
                <a:latin typeface="Aptos"/>
              </a:defRPr>
            </a:pPr>
            <a:r>
              <a:t>Escrivim una adreça al navegador:</a:t>
            </a:r>
            <a:br/>
            <a:r>
              <a:t>www.exemple.com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17320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9000" y="1755648"/>
            <a:ext cx="640080" cy="640080"/>
          </a:xfrm>
          <a:prstGeom prst="ellipse">
            <a:avLst/>
          </a:prstGeom>
          <a:solidFill>
            <a:srgbClr val="37B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7556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70048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1931"/>
                </a:solidFill>
                <a:latin typeface="Aptos Display"/>
              </a:defRPr>
            </a:pPr>
            <a:r>
              <a:t>Petició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246120"/>
            <a:ext cx="1609344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70" b="0">
                <a:solidFill>
                  <a:srgbClr val="0D1931"/>
                </a:solidFill>
                <a:latin typeface="Aptos"/>
              </a:defRPr>
            </a:pPr>
            <a:r>
              <a:t>El navegador envia una petició HTTP o HTTPS.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417320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1755648"/>
            <a:ext cx="640080" cy="640080"/>
          </a:xfrm>
          <a:prstGeom prst="ellipse">
            <a:avLst/>
          </a:prstGeom>
          <a:solidFill>
            <a:srgbClr val="7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7556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70048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1931"/>
                </a:solidFill>
                <a:latin typeface="Aptos Display"/>
              </a:defRPr>
            </a:pPr>
            <a:r>
              <a:t>Processament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246120"/>
            <a:ext cx="1609344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70" b="0">
                <a:solidFill>
                  <a:srgbClr val="0D1931"/>
                </a:solidFill>
                <a:latin typeface="Aptos"/>
              </a:defRPr>
            </a:pPr>
            <a:r>
              <a:t>El servidor rep la petició i prepara el contingut.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417320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92440" y="1755648"/>
            <a:ext cx="640080" cy="640080"/>
          </a:xfrm>
          <a:prstGeom prst="ellipse">
            <a:avLst/>
          </a:prstGeom>
          <a:solidFill>
            <a:srgbClr val="2AA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7556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670048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1931"/>
                </a:solidFill>
                <a:latin typeface="Aptos Display"/>
              </a:defRPr>
            </a:pPr>
            <a:r>
              <a:t>Resposta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3246120"/>
            <a:ext cx="1609344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70" b="0">
                <a:solidFill>
                  <a:srgbClr val="0D1931"/>
                </a:solidFill>
                <a:latin typeface="Aptos"/>
              </a:defRPr>
            </a:pPr>
            <a:r>
              <a:t>El servidor retorna fitxers i dades al client.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417320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24160" y="1755648"/>
            <a:ext cx="640080" cy="640080"/>
          </a:xfrm>
          <a:prstGeom prst="ellipse">
            <a:avLst/>
          </a:prstGeom>
          <a:solidFill>
            <a:srgbClr val="EB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0" y="17556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670048"/>
            <a:ext cx="1645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D1931"/>
                </a:solidFill>
                <a:latin typeface="Aptos Display"/>
              </a:defRPr>
            </a:pPr>
            <a:r>
              <a:t>Visualització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3246120"/>
            <a:ext cx="1609344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70" b="0">
                <a:solidFill>
                  <a:srgbClr val="0D1931"/>
                </a:solidFill>
                <a:latin typeface="Aptos"/>
              </a:defRPr>
            </a:pPr>
            <a:r>
              <a:t>El navegador interpreta el contingut i mostra la pàgina.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448" y="3291840"/>
            <a:ext cx="2560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268E6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3291840"/>
            <a:ext cx="2560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268E6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4888" y="3291840"/>
            <a:ext cx="2560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268E6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8" y="3291840"/>
            <a:ext cx="25603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268E6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897880"/>
            <a:ext cx="10332720" cy="41148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934456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0D1931"/>
                </a:solidFill>
                <a:latin typeface="Aptos Display"/>
              </a:defRPr>
            </a:pPr>
            <a:r>
              <a:t>El procés és molt ràpid i pot repetir-se moltes vegades mentre naveguem per una mateixa web.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20040"/>
            <a:ext cx="566928" cy="566928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1931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0D1931"/>
                </a:solidFill>
                <a:latin typeface="Aptos Display"/>
              </a:defRPr>
            </a:pPr>
            <a:r>
              <a:t>HTTP, HTTPS i contingut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0408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5B687F"/>
                </a:solidFill>
                <a:latin typeface="Aptos"/>
              </a:defRPr>
            </a:pPr>
            <a:r>
              <a:t>Protocols i fitxers principals que participen en la comunicació.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600200"/>
            <a:ext cx="384048" cy="384048"/>
          </a:xfrm>
          <a:prstGeom prst="ellipse">
            <a:avLst/>
          </a:prstGeom>
          <a:solidFill>
            <a:srgbClr val="32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536192"/>
            <a:ext cx="2514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HTTP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926079" cy="3547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HTTP (HyperText Transfer Protocol) defineix com s’intercanvien peticions i respostes entre client i servidor.</a:t>
            </a:r>
            <a:br/>
            <a:br/>
            <a:r>
              <a:t>Exemples de peticions:</a:t>
            </a:r>
            <a:br/>
            <a:r>
              <a:t>• demanar una pàgina</a:t>
            </a:r>
            <a:br/>
            <a:r>
              <a:t>• enviar un formulari</a:t>
            </a:r>
            <a:br/>
            <a:r>
              <a:t>• carregar una imatge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1600200"/>
            <a:ext cx="384048" cy="384048"/>
          </a:xfrm>
          <a:prstGeom prst="ellipse">
            <a:avLst/>
          </a:prstGeom>
          <a:solidFill>
            <a:srgbClr val="2AA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536192"/>
            <a:ext cx="2514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121408"/>
            <a:ext cx="2926079" cy="3547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HTTPS és HTTP amb una connexió xifrada.</a:t>
            </a:r>
            <a:br/>
            <a:br/>
            <a:r>
              <a:t>Això ajuda a:</a:t>
            </a:r>
            <a:br/>
            <a:r>
              <a:t>• protegir les dades en trànsit</a:t>
            </a:r>
            <a:br/>
            <a:r>
              <a:t>• evitar que tercers les llegeixin fàcilment</a:t>
            </a:r>
            <a:br/>
            <a:r>
              <a:t>• autenticar el lloc web mitjançant certificats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7160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30183" y="1600200"/>
            <a:ext cx="384048" cy="384048"/>
          </a:xfrm>
          <a:prstGeom prst="ellipse">
            <a:avLst/>
          </a:prstGeom>
          <a:solidFill>
            <a:srgbClr val="7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1536192"/>
            <a:ext cx="2514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Què rep el navegador?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121408"/>
            <a:ext cx="2926079" cy="3547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La resposta pot contenir diferents recursos:</a:t>
            </a:r>
            <a:br/>
            <a:br/>
            <a:r>
              <a:t>• HTML → estructura</a:t>
            </a:r>
            <a:br/>
            <a:r>
              <a:t>• CSS → disseny i estil</a:t>
            </a:r>
            <a:br/>
            <a:r>
              <a:t>• JavaScript → interactivitat</a:t>
            </a:r>
            <a:br/>
            <a:r>
              <a:t>• imatges, vídeos i altres 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20040"/>
            <a:ext cx="566928" cy="566928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1931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0D1931"/>
                </a:solidFill>
                <a:latin typeface="Aptos Display"/>
              </a:defRPr>
            </a:pPr>
            <a:r>
              <a:t>Història dels navegadors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0408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5B687F"/>
                </a:solidFill>
                <a:latin typeface="Aptos"/>
              </a:defRPr>
            </a:pPr>
            <a:r>
              <a:t>La competència entre navegadors ha impulsat noves funcions, rendiment i estàndards.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61872"/>
            <a:ext cx="72237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1261872"/>
            <a:ext cx="3767328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554480"/>
            <a:ext cx="3108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50" b="1">
                <a:solidFill>
                  <a:srgbClr val="0D1931"/>
                </a:solidFill>
                <a:latin typeface="Aptos Display"/>
              </a:defRPr>
            </a:pPr>
            <a:r>
              <a:t>Evolució resumida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03120"/>
            <a:ext cx="30632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1990 — WorldWideWeb</a:t>
            </a:r>
            <a:br/>
            <a:r>
              <a:t>Primer navegador del Web.</a:t>
            </a:r>
            <a:br/>
            <a:br/>
            <a:r>
              <a:t>1993 — Mosaic</a:t>
            </a:r>
            <a:br/>
            <a:r>
              <a:t>Va popularitzar la navegació gràfica.</a:t>
            </a:r>
            <a:br/>
            <a:br/>
            <a:r>
              <a:t>1995–2000s</a:t>
            </a:r>
            <a:br/>
            <a:r>
              <a:t>Internet Explorer, Opera, Firefox i Safari amplien la competència.</a:t>
            </a:r>
            <a:br/>
            <a:br/>
            <a:r>
              <a:t>2008 — Chrome</a:t>
            </a:r>
            <a:br/>
            <a:r>
              <a:t>Impulsa un fort enfocament en velocitat, seguretat i aplicacions web.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62356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3268E6"/>
                </a:solidFill>
                <a:latin typeface="Aptos Display"/>
              </a:defRPr>
            </a:pPr>
            <a:r>
              <a:t>Avui conviuen diversos navegadors moderns.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06</a:t>
            </a:r>
          </a:p>
        </p:txBody>
      </p:sp>
      <p:pic>
        <p:nvPicPr>
          <p:cNvPr id="13" name="Picture 12" descr="a2f7493f-9f04-4d01-8633-635421cb1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81328"/>
            <a:ext cx="6821424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20040"/>
            <a:ext cx="566928" cy="566928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1931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0D1931"/>
                </a:solidFill>
                <a:latin typeface="Aptos Display"/>
              </a:defRPr>
            </a:pPr>
            <a:r>
              <a:t>De webs simples a aplicacions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0408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5B687F"/>
                </a:solidFill>
                <a:latin typeface="Aptos"/>
              </a:defRPr>
            </a:pPr>
            <a:r>
              <a:t>L’evolució del navegador ha ampliat molt el que podem fer dins d’una pàgina.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EB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536192"/>
            <a:ext cx="2468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Primers webs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880360" cy="3593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• Contingut principalment estàtic</a:t>
            </a:r>
            <a:br/>
            <a:r>
              <a:t>• Text, imatges i hipervincles</a:t>
            </a:r>
            <a:br/>
            <a:r>
              <a:t>• Dissenys simples</a:t>
            </a:r>
            <a:br/>
            <a:r>
              <a:t>• Poca interactivitat</a:t>
            </a:r>
            <a:br/>
            <a:r>
              <a:t>• Funcions limitades del navegador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1600200"/>
            <a:ext cx="384048" cy="384048"/>
          </a:xfrm>
          <a:prstGeom prst="ellipse">
            <a:avLst/>
          </a:prstGeom>
          <a:solidFill>
            <a:srgbClr val="32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536192"/>
            <a:ext cx="2468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Web moderna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21408"/>
            <a:ext cx="2880360" cy="3593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• Animacions i multimèdia</a:t>
            </a:r>
            <a:br/>
            <a:r>
              <a:t>• Formularis avançats</a:t>
            </a:r>
            <a:br/>
            <a:r>
              <a:t>• Aplicacions interactives</a:t>
            </a:r>
            <a:br/>
            <a:r>
              <a:t>• Mapes, jocs i videotrucades</a:t>
            </a:r>
            <a:br/>
            <a:r>
              <a:t>• Actualització de contingut sense recarregar tota la pàgina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71600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600200"/>
            <a:ext cx="384048" cy="384048"/>
          </a:xfrm>
          <a:prstGeom prst="ellipse">
            <a:avLst/>
          </a:prstGeom>
          <a:solidFill>
            <a:srgbClr val="2AA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536192"/>
            <a:ext cx="24688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Experiència d’usuari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21408"/>
            <a:ext cx="2880360" cy="3593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• Més rapidesa</a:t>
            </a:r>
            <a:br/>
            <a:r>
              <a:t>• Millor disseny visual</a:t>
            </a:r>
            <a:br/>
            <a:r>
              <a:t>• Adaptació a mòbil i tauleta</a:t>
            </a:r>
            <a:br/>
            <a:r>
              <a:t>• Sincronització entre dispositius</a:t>
            </a:r>
            <a:br/>
            <a:r>
              <a:t>• Més opcions d’accessibilitat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20040"/>
            <a:ext cx="566928" cy="566928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1931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0D1931"/>
                </a:solidFill>
                <a:latin typeface="Aptos Display"/>
              </a:defRPr>
            </a:pPr>
            <a:r>
              <a:t>Impacte en el desenvolupament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0408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5B687F"/>
                </a:solidFill>
                <a:latin typeface="Aptos"/>
              </a:defRPr>
            </a:pPr>
            <a:r>
              <a:t>Els desenvolupadors han guanyat possibilitats, però també nous reptes.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32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536192"/>
            <a:ext cx="4434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Tecnologies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484632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Els navegadors moderns implementen noves funcions d’HTML, CSS i JavaScript. Això permet interfícies més riques i aplicacions complexes.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600200"/>
            <a:ext cx="384048" cy="384048"/>
          </a:xfrm>
          <a:prstGeom prst="ellipse">
            <a:avLst/>
          </a:prstGeom>
          <a:solidFill>
            <a:srgbClr val="2AA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2008" y="1536192"/>
            <a:ext cx="4434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Rendiment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21408"/>
            <a:ext cx="484632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Els motors dels navegadors executen JavaScript i renderitzen pàgines cada vegada més ràpid. Els desenvolupadors també han d’optimitzar recursos.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0332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931920"/>
            <a:ext cx="384048" cy="384048"/>
          </a:xfrm>
          <a:prstGeom prst="ellipse">
            <a:avLst/>
          </a:prstGeom>
          <a:solidFill>
            <a:srgbClr val="7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3867911"/>
            <a:ext cx="4434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Compatibilitat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53128"/>
            <a:ext cx="484632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Una web ha de funcionar correctament en diferents navegadors, sistemes operatius, mides de pantalla i dispositius.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3931920"/>
            <a:ext cx="384048" cy="384048"/>
          </a:xfrm>
          <a:prstGeom prst="ellipse">
            <a:avLst/>
          </a:prstGeom>
          <a:solidFill>
            <a:srgbClr val="EB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3867911"/>
            <a:ext cx="44348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50" b="1">
                <a:solidFill>
                  <a:srgbClr val="0D1931"/>
                </a:solidFill>
                <a:latin typeface="Aptos Display"/>
              </a:defRPr>
            </a:pPr>
            <a:r>
              <a:t>Seguretat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53128"/>
            <a:ext cx="484632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20" b="0">
                <a:solidFill>
                  <a:srgbClr val="0D1931"/>
                </a:solidFill>
                <a:latin typeface="Aptos"/>
              </a:defRPr>
            </a:pPr>
            <a:r>
              <a:t>HTTPS, permisos, polítiques de seguretat i actualitzacions del navegador són importants per protegir l’usuari i les dades.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20040"/>
            <a:ext cx="566928" cy="566928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1931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0D1931"/>
                </a:solidFill>
                <a:latin typeface="Aptos Display"/>
              </a:defRPr>
            </a:pPr>
            <a:r>
              <a:t>Compatibilitat entre navegadors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0408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5B687F"/>
                </a:solidFill>
                <a:latin typeface="Aptos"/>
              </a:defRPr>
            </a:pPr>
            <a:r>
              <a:t>Una mateixa web pot interpretar-se de manera lleugerament diferent segons el navegador.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1931"/>
                </a:solidFill>
                <a:latin typeface="Aptos Display"/>
              </a:defRPr>
            </a:pPr>
            <a:r>
              <a:t>Per què pot passar?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434840" cy="2423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20" b="0">
                <a:solidFill>
                  <a:srgbClr val="0D1931"/>
                </a:solidFill>
                <a:latin typeface="Aptos"/>
              </a:defRPr>
            </a:pPr>
            <a:r>
              <a:t>• No totes les versions suporten exactament les mateixes funcions.</a:t>
            </a:r>
            <a:br/>
            <a:br/>
            <a:r>
              <a:t>• Alguns estils CSS o APIs poden comportar-se diferent.</a:t>
            </a:r>
            <a:br/>
            <a:br/>
            <a:r>
              <a:t>• Els usuaris poden utilitzar ordinadors, mòbils o tauletes molt diferents.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1931"/>
                </a:solidFill>
                <a:latin typeface="Aptos Display"/>
              </a:defRPr>
            </a:pPr>
            <a:r>
              <a:t>Què fa el desenvolupador?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23160"/>
            <a:ext cx="4434840" cy="2606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20" b="0">
                <a:solidFill>
                  <a:srgbClr val="0D1931"/>
                </a:solidFill>
                <a:latin typeface="Aptos"/>
              </a:defRPr>
            </a:pPr>
            <a:r>
              <a:t>• Utilitza estàndards web.</a:t>
            </a:r>
            <a:br/>
            <a:br/>
            <a:r>
              <a:t>• Prova la pàgina en diversos navegadors.</a:t>
            </a:r>
            <a:br/>
            <a:br/>
            <a:r>
              <a:t>• Fa un disseny responsive.</a:t>
            </a:r>
            <a:br/>
            <a:br/>
            <a:r>
              <a:t>• Comprova que les funcions importants continuïn funcionant encara que alguna característica no estigui disponible.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320040"/>
            <a:ext cx="566928" cy="566928"/>
          </a:xfrm>
          <a:prstGeom prst="ellipse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00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D1931"/>
                </a:solidFill>
                <a:latin typeface="Aptos Display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0D1931"/>
                </a:solidFill>
                <a:latin typeface="Aptos Display"/>
              </a:defRPr>
            </a:pPr>
            <a:r>
              <a:t>Conclusió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0408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5B687F"/>
                </a:solidFill>
                <a:latin typeface="Aptos"/>
              </a:defRPr>
            </a:pPr>
            <a:r>
              <a:t>Les tres idees principals de la presentació.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880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874519"/>
            <a:ext cx="685800" cy="685800"/>
          </a:xfrm>
          <a:prstGeom prst="ellipse">
            <a:avLst/>
          </a:prstGeom>
          <a:solidFill>
            <a:srgbClr val="32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874519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D1931"/>
                </a:solidFill>
                <a:latin typeface="Aptos Display"/>
              </a:defRPr>
            </a:pPr>
            <a:r>
              <a:t>CLIENT + 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22402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5B687F"/>
                </a:solidFill>
                <a:latin typeface="Aptos"/>
              </a:defRPr>
            </a:pPr>
            <a:r>
              <a:t>El client demana recursos i el servidor processa la petició i respon.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508760"/>
            <a:ext cx="2880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66360" y="1874519"/>
            <a:ext cx="685800" cy="685800"/>
          </a:xfrm>
          <a:prstGeom prst="ellipse">
            <a:avLst/>
          </a:prstGeom>
          <a:solidFill>
            <a:srgbClr val="765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874519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880360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D1931"/>
                </a:solidFill>
                <a:latin typeface="Aptos Display"/>
              </a:defRPr>
            </a:pPr>
            <a:r>
              <a:t>NAVEGADORS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57600"/>
            <a:ext cx="22402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5B687F"/>
                </a:solidFill>
                <a:latin typeface="Aptos"/>
              </a:defRPr>
            </a:pPr>
            <a:r>
              <a:t>Han evolucionat des d’eines simples fins a plataformes capaces d’executar aplicacions web.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508760"/>
            <a:ext cx="2880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E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19" y="1874519"/>
            <a:ext cx="685800" cy="685800"/>
          </a:xfrm>
          <a:prstGeom prst="ellipse">
            <a:avLst/>
          </a:prstGeom>
          <a:solidFill>
            <a:srgbClr val="2AA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1874519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880360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0D1931"/>
                </a:solidFill>
                <a:latin typeface="Aptos Display"/>
              </a:defRPr>
            </a:pPr>
            <a:r>
              <a:t>DESENVOLUPAMENT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657600"/>
            <a:ext cx="22402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5B687F"/>
                </a:solidFill>
                <a:latin typeface="Aptos"/>
              </a:defRPr>
            </a:pPr>
            <a:r>
              <a:t>L’evolució ha aportat més interactivitat, rendiment i seguretat, però exigeix compatibilitat.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623560"/>
            <a:ext cx="10012680" cy="530352"/>
          </a:xfrm>
          <a:prstGeom prst="roundRect">
            <a:avLst/>
          </a:prstGeom>
          <a:solidFill>
            <a:srgbClr val="0D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705856"/>
            <a:ext cx="9464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 Display"/>
              </a:defRPr>
            </a:pPr>
            <a:r>
              <a:t>La web funciona gràcies a la comunicació entre sistemes i a l’evolució constant dels navegadors i dels estàndards web.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28232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5B687F"/>
                </a:solidFill>
                <a:latin typeface="Aptos Display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